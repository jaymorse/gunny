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Thesis: make AI a daily operating layer. AI assembles reports, pulls metrics, summarizes meetings; the TPM keeps the judgment — what's red, what to escalate, what to tell a 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principles. The one that matters most: automate the assembly, own the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recurring TPM cadence. Left two columns = the ritual; right two = the division of labor.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workflows. Each has a copy-paste prompt in the Word doc and web page. W5 weekly status is the flagship — biggest time saver.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flagship. Consolidate program data into one tracker; AI assembles the standard report; you set RAG and narrative. Templatize once and it's a 30-minute weekly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Sequenced adoption: prove value on low-risk work first, automate the flagship last, then compound.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the shift. The headline metric is the qualitative one: time reallocated from assembly to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Guardrails are non-negotiable. Then start with the five setup steps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88A2E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786384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PROGRAM MANAGER  ·  ORACLE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1828800"/>
            <a:ext cx="10881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programs on an
</a:t>
            </a:r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operating layer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3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daily-workflow plan for turning reports and repetitive data work into minutes — so your time goes to judgment, escalation, and coordination instead of copy-paste.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JUDGMENT</a:t>
            </a:r>
            <a:pPr indent="0" marL="0">
              <a:buNone/>
            </a:pPr>
            <a:r>
              <a:rPr lang="en-US" sz="1400" spc="200" kern="0" dirty="0">
                <a:solidFill>
                  <a:srgbClr val="8B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 owns the assembly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GUIDING PRINCIPLES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AI in its lane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analyst that assembles — never the person who signs off. Five rules that make the rest of this plan safe to run daily.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754880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0F16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9377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spc="200" kern="0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assembly, drafting, diffing, formatting.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RAG calls, narrative, escalation, sign-off.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06440" y="594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8" name="Text 6"/>
          <p:cNvSpPr/>
          <p:nvPr/>
        </p:nvSpPr>
        <p:spPr>
          <a:xfrm>
            <a:off x="5806440" y="594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28232" y="53035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assembly, own the judgment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28232" y="85953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the report and pulls the metrics. You decide what's red and what to escalate.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06440" y="1783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28232" y="171907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in, artifacts out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28232" y="204825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program data in one place; point AI at it. Never re-key data by hand.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06440" y="2971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290779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Templatize once, reuse forever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28232" y="323697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repeat weekly. Build a prompt per artifact so week N is a 30-second refresh.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06440" y="4160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28232" y="409651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send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28232" y="442569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numbers and commitments get a human check. First draft — not signed-off truth.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806440" y="5349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24" name="Text 22"/>
          <p:cNvSpPr/>
          <p:nvPr/>
        </p:nvSpPr>
        <p:spPr>
          <a:xfrm>
            <a:off x="58064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28232" y="528523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data handling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428232" y="561441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what data may enter which system per Oracle policy before wiring up connectors.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OPERATING RHYTHM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does, and what stays yours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57400"/>
                <a:gridCol w="3977640"/>
                <a:gridCol w="3108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morning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brief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6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Summarize overnight mail, meetings, blockers, mentions into one briefing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6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the 3 that matter; decide escalations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meetings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prep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6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attendee context, last decisions, open actions for that program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6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in current without digging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meetings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→ 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6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Transcribe, extract decisions + owners + due dates, draft follow-up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6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owners, send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Inbox / chat drafting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6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replies, status nudges, cross-team 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6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tone, approve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· Thu/Fri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roll-up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6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Assemble status from tracker + notes + metrics into the standard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6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RAG, add narrative, escalate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/ RAID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6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 this week's risks vs last; flag new and aging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6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mitigations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 update &amp; 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6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exec summary, trend charts, readiness scorecard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6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the 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workflow in the next section — with the exact prompt to run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WORKFLOW PLAYBOOK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workflows, one prompt 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1F4F8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44752" y="18013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35000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summary of mail, calendar, blockers &amp; mentions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1F4F8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28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93792" y="18013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prep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35000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decisions &amp; open actions before each call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1F4F8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828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42832" y="18013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→ actions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35000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to decisions, owners, dates, follow-up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15468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1F4F8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3832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44752" y="33558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/ chat drafting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390448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nudges &amp; cross-team asks in your voice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315468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BF3E4"/>
          </a:solidFill>
          <a:ln w="19050">
            <a:solidFill>
              <a:srgbClr val="C88A2E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3832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93792" y="33558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status report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45152" y="390448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+ notes → the standard report. Flagship.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3410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138160" y="315468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1F4F8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66760" y="33832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42832" y="33558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RAID diff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94192" y="390448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new, aging, or unowned since last week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470916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1F4F8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68680" y="4937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44752" y="4910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metrics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96112" y="545896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exports, roll up, and chart the recurring views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0" y="470916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1F4F8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4937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42" name="Text 40"/>
          <p:cNvSpPr/>
          <p:nvPr/>
        </p:nvSpPr>
        <p:spPr>
          <a:xfrm>
            <a:off x="46177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93792" y="4910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summaries &amp; decks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645152" y="545896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state into a VP-ready 5-slide story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138160" y="470916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1F4F8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366760" y="4937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47" name="Text 45"/>
          <p:cNvSpPr/>
          <p:nvPr/>
        </p:nvSpPr>
        <p:spPr>
          <a:xfrm>
            <a:off x="83667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942832" y="4910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recall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394192" y="545896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did we decide that?” across docs &amp; chat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WORKFLOW · W5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status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1–2 hours every week spent assembling status from many sources into the standard format.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6949440" cy="3566160"/>
          </a:xfrm>
          <a:prstGeom prst="roundRect">
            <a:avLst>
              <a:gd name="adj" fmla="val 2051"/>
            </a:avLst>
          </a:prstGeom>
          <a:solidFill>
            <a:srgbClr val="1D2836"/>
          </a:solidFill>
          <a:ln w="12700">
            <a:solidFill>
              <a:srgbClr val="2430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77440"/>
            <a:ext cx="82296" cy="3566160"/>
          </a:xfrm>
          <a:prstGeom prst="roundRect">
            <a:avLst>
              <a:gd name="adj" fmla="val 33333"/>
            </a:avLst>
          </a:prstGeom>
          <a:solidFill>
            <a:srgbClr val="C88A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60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PROMPT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6400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i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“Using the program tracker at [link] and this week's meeting notes, generate our standard weekly status report: overall RAG, per-workstream status with the delta since last week, milestones hit and missed, top 3 risks, and asks for leadership. Match the format of last week's report.”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8638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STILL OWN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288036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C88A2E"/>
          </a:solidFill>
          <a:ln/>
        </p:spPr>
      </p:sp>
      <p:sp>
        <p:nvSpPr>
          <p:cNvPr id="11" name="Text 9"/>
          <p:cNvSpPr/>
          <p:nvPr/>
        </p:nvSpPr>
        <p:spPr>
          <a:xfrm>
            <a:off x="8119872" y="27614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/ override the RAG colors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344728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C8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119872" y="33284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narrative and the “so what”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401421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C8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119872" y="38953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what escalates to leadership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63840" y="480060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24303F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49377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format is stable
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as a template — week N becomes run → review → send.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ROLLOUT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Crawl, walk, run — in four weeks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F1F4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659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88A2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9842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22037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value on low-risk 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mail, calendar &amp; drive (per policy)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just two workflows: morning brief + notes → actions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the savings on the highest-frequency tasks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02152" y="169164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F1F4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8184" y="19659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8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3758184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62272" y="19842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62272" y="22037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776472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the flagship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76472" y="32918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program data into one tracker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run the weekly status report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inbox drafting + meeting prep to the daily habit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64224" y="169164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F1F4F8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0256" y="19659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8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6620256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24344" y="19842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24344" y="22037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638544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Templatize &amp; automate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38544" y="32918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weekly status, exec update &amp; RAID diff as templates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morning brief to auto-run each weekday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metrics / dataviz for recurring charts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226296" y="169164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FBF3E4"/>
          </a:solidFill>
          <a:ln w="19050">
            <a:solidFill>
              <a:srgbClr val="C88A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82328" y="19659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88A2E"/>
          </a:solidFill>
          <a:ln/>
        </p:spPr>
      </p:sp>
      <p:sp>
        <p:nvSpPr>
          <p:cNvPr id="27" name="Text 25"/>
          <p:cNvSpPr/>
          <p:nvPr/>
        </p:nvSpPr>
        <p:spPr>
          <a:xfrm>
            <a:off x="9482328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186416" y="19842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186416" y="22037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500616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B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stick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00616" y="32918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 repetitive task twice → template it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73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personal prompt library that fits your programs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IS IT WORKING?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four weeks — before and after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1D2836"/>
          </a:solidFill>
          <a:ln w="12700">
            <a:solidFill>
              <a:srgbClr val="2430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317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−50–70%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time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Hours/week on status assembly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02152" y="201168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1D2836"/>
          </a:solidFill>
          <a:ln w="12700">
            <a:solidFill>
              <a:srgbClr val="2430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23317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85032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Action-item latency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85032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→ tracked commitments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64224" y="201168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1D2836"/>
          </a:solidFill>
          <a:ln w="12700">
            <a:solidFill>
              <a:srgbClr val="2430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23317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547104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status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47104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now a 30-minute task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26296" y="201168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1D2836"/>
          </a:solidFill>
          <a:ln w="12700">
            <a:solidFill>
              <a:srgbClr val="2430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72016" y="23317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409176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lead time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09176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surface sooner; diffing is automated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C88A2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7091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win  </a:t>
            </a:r>
            <a:pPr indent="0" marL="0">
              <a:buNone/>
            </a:pPr>
            <a:r>
              <a:rPr lang="en-US" sz="1700" dirty="0">
                <a:solidFill>
                  <a:srgbClr val="2A1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more of your week on coordination and decisions, less on copy-paste.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GUARDRAILS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8196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policy first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1854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3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what program &amp; customer data may enter each AI system before wiring up connectors.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8712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32369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3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AI-drafted email, exec number, and commitment gets a review before it leaves.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9227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unverified numbers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42885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3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assembles; you verify against source before it goes in a report.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8A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9743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80160" y="53400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3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each connector only the access its workflow needs.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1874520"/>
            <a:ext cx="4754880" cy="4114800"/>
          </a:xfrm>
          <a:prstGeom prst="roundRect">
            <a:avLst>
              <a:gd name="adj" fmla="val 2222"/>
            </a:avLst>
          </a:prstGeom>
          <a:solidFill>
            <a:srgbClr val="1D2836"/>
          </a:solidFill>
          <a:ln w="12700">
            <a:solidFill>
              <a:srgbClr val="2430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274320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D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approved tools under Oracle policy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D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mail, calendar, drive &amp; chat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D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one program tracker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D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morning brief + notes → actions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D6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weekly status report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86600" y="5349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6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assembly. Own the judgment.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2026-07-22T03:12:55Z</dcterms:created>
  <dcterms:modified xsi:type="dcterms:W3CDTF">2026-07-22T03:12:55Z</dcterms:modified>
</cp:coreProperties>
</file>